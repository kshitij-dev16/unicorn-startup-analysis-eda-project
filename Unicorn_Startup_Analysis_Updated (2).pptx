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Companies</c:v>
                </c:pt>
              </c:strCache>
            </c:strRef>
          </c:tx>
          <c:spPr>
            <a:solidFill>
              <a:srgbClr val="1A234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52A-4B77-BDA5-6E6DB97A26E9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52A-4B77-BDA5-6E6DB97A26E9}"/>
              </c:ext>
            </c:extLst>
          </c:dPt>
          <c:dPt>
            <c:idx val="2"/>
            <c:invertIfNegative val="0"/>
            <c:bubble3D val="0"/>
            <c:spPr>
              <a:solidFill>
                <a:srgbClr val="243B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52A-4B77-BDA5-6E6DB97A26E9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52A-4B77-BDA5-6E6DB97A26E9}"/>
              </c:ext>
            </c:extLst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52A-4B77-BDA5-6E6DB97A26E9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52A-4B77-BDA5-6E6DB97A26E9}"/>
              </c:ext>
            </c:extLst>
          </c:dPt>
          <c:dPt>
            <c:idx val="6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52A-4B77-BDA5-6E6DB97A26E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$1B
43.9%</c:v>
                </c:pt>
                <c:pt idx="1">
                  <c:v>$2B
23.1%</c:v>
                </c:pt>
                <c:pt idx="2">
                  <c:v>$3B
10.7%</c:v>
                </c:pt>
                <c:pt idx="3">
                  <c:v>$4–5B
8.5%</c:v>
                </c:pt>
                <c:pt idx="4">
                  <c:v>$6–10B
7.4%</c:v>
                </c:pt>
                <c:pt idx="5">
                  <c:v>$10–20B
4.0%</c:v>
                </c:pt>
                <c:pt idx="6">
                  <c:v>$20B+
2.5%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471</c:v>
                </c:pt>
                <c:pt idx="1">
                  <c:v>248</c:v>
                </c:pt>
                <c:pt idx="2">
                  <c:v>115</c:v>
                </c:pt>
                <c:pt idx="3">
                  <c:v>91</c:v>
                </c:pt>
                <c:pt idx="4">
                  <c:v>79</c:v>
                </c:pt>
                <c:pt idx="5">
                  <c:v>43</c:v>
                </c:pt>
                <c:pt idx="6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52A-4B77-BDA5-6E6DB97A26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Unicorns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9</c:v>
                </c:pt>
                <c:pt idx="5">
                  <c:v>13</c:v>
                </c:pt>
                <c:pt idx="6">
                  <c:v>17</c:v>
                </c:pt>
                <c:pt idx="7">
                  <c:v>44</c:v>
                </c:pt>
                <c:pt idx="8">
                  <c:v>63</c:v>
                </c:pt>
                <c:pt idx="9">
                  <c:v>78</c:v>
                </c:pt>
                <c:pt idx="10">
                  <c:v>68</c:v>
                </c:pt>
                <c:pt idx="11">
                  <c:v>95</c:v>
                </c:pt>
                <c:pt idx="12">
                  <c:v>113</c:v>
                </c:pt>
                <c:pt idx="13">
                  <c:v>91</c:v>
                </c:pt>
                <c:pt idx="14">
                  <c:v>414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BFD-4BBE-99A2-CDCEB5D49B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$1B</c:v>
                </c:pt>
              </c:strCache>
            </c:strRef>
          </c:tx>
          <c:spPr>
            <a:solidFill>
              <a:srgbClr val="1A2340"/>
            </a:solidFill>
            <a:effectLst/>
          </c:spPr>
          <c:invertIfNegative val="0"/>
          <c:cat>
            <c:strRef>
              <c:f>Sheet1!$A$2:$A$7</c:f>
              <c:strCache>
                <c:ptCount val="15"/>
                <c:pt idx="0">
                  <c:v>Fintech</c:v>
                </c:pt>
                <c:pt idx="1">
                  <c:v>Internet SW &amp; Services</c:v>
                </c:pt>
                <c:pt idx="2">
                  <c:v>E-commerce</c:v>
                </c:pt>
                <c:pt idx="3">
                  <c:v>AI &amp; ML</c:v>
                </c:pt>
                <c:pt idx="4">
                  <c:v>Health</c:v>
                </c:pt>
                <c:pt idx="5">
                  <c:v>Supply Chain</c:v>
                </c:pt>
                <c:pt idx="6">
                  <c:v>Consumer &amp; Retail</c:v>
                </c:pt>
                <c:pt idx="7">
                  <c:v>Data Mgmt &amp; Analytics</c:v>
                </c:pt>
                <c:pt idx="8">
                  <c:v>Edtech</c:v>
                </c:pt>
                <c:pt idx="9">
                  <c:v>Hardware</c:v>
                </c:pt>
                <c:pt idx="10">
                  <c:v>Auto &amp; Transportation</c:v>
                </c:pt>
                <c:pt idx="11">
                  <c:v>Travel</c:v>
                </c:pt>
                <c:pt idx="12">
                  <c:v>Cybersecurity</c:v>
                </c:pt>
                <c:pt idx="13">
                  <c:v>Mobile &amp; Telecom</c:v>
                </c:pt>
                <c:pt idx="14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15"/>
                <c:pt idx="0">
                  <c:v>130</c:v>
                </c:pt>
                <c:pt idx="1">
                  <c:v>118</c:v>
                </c:pt>
                <c:pt idx="2">
                  <c:v>65</c:v>
                </c:pt>
                <c:pt idx="3">
                  <c:v>50</c:v>
                </c:pt>
                <c:pt idx="4">
                  <c:v>44</c:v>
                </c:pt>
                <c:pt idx="5">
                  <c:v>33</c:v>
                </c:pt>
                <c:pt idx="6">
                  <c:v>30</c:v>
                </c:pt>
                <c:pt idx="7">
                  <c:v>26</c:v>
                </c:pt>
                <c:pt idx="8">
                  <c:v>21</c:v>
                </c:pt>
                <c:pt idx="9">
                  <c:v>16</c:v>
                </c:pt>
                <c:pt idx="10">
                  <c:v>13</c:v>
                </c:pt>
                <c:pt idx="11">
                  <c:v>12</c:v>
                </c:pt>
                <c:pt idx="12">
                  <c:v>11</c:v>
                </c:pt>
                <c:pt idx="13">
                  <c:v>10</c:v>
                </c:pt>
                <c:pt idx="14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6A-4E87-8262-9D14313589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$2B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Sheet1!$A$2:$A$7</c:f>
              <c:strCache>
                <c:ptCount val="15"/>
                <c:pt idx="0">
                  <c:v>Fintech</c:v>
                </c:pt>
                <c:pt idx="1">
                  <c:v>Internet SW &amp; Services</c:v>
                </c:pt>
                <c:pt idx="2">
                  <c:v>E-commerce</c:v>
                </c:pt>
                <c:pt idx="3">
                  <c:v>AI &amp; ML</c:v>
                </c:pt>
                <c:pt idx="4">
                  <c:v>Health</c:v>
                </c:pt>
                <c:pt idx="5">
                  <c:v>Supply Chain</c:v>
                </c:pt>
                <c:pt idx="6">
                  <c:v>Consumer &amp; Retail</c:v>
                </c:pt>
                <c:pt idx="7">
                  <c:v>Data Mgmt &amp; Analytics</c:v>
                </c:pt>
                <c:pt idx="8">
                  <c:v>Edtech</c:v>
                </c:pt>
                <c:pt idx="9">
                  <c:v>Hardware</c:v>
                </c:pt>
                <c:pt idx="10">
                  <c:v>Auto &amp; Transportation</c:v>
                </c:pt>
                <c:pt idx="11">
                  <c:v>Travel</c:v>
                </c:pt>
                <c:pt idx="12">
                  <c:v>Cybersecurity</c:v>
                </c:pt>
                <c:pt idx="13">
                  <c:v>Mobile &amp; Telecom</c:v>
                </c:pt>
                <c:pt idx="14">
                  <c:v>Other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15"/>
                <c:pt idx="0">
                  <c:v>55</c:v>
                </c:pt>
                <c:pt idx="1">
                  <c:v>50</c:v>
                </c:pt>
                <c:pt idx="2">
                  <c:v>28</c:v>
                </c:pt>
                <c:pt idx="3">
                  <c:v>20</c:v>
                </c:pt>
                <c:pt idx="4">
                  <c:v>18</c:v>
                </c:pt>
                <c:pt idx="5">
                  <c:v>13</c:v>
                </c:pt>
                <c:pt idx="6">
                  <c:v>11</c:v>
                </c:pt>
                <c:pt idx="7">
                  <c:v>9</c:v>
                </c:pt>
                <c:pt idx="8">
                  <c:v>7</c:v>
                </c:pt>
                <c:pt idx="9">
                  <c:v>6</c:v>
                </c:pt>
                <c:pt idx="10">
                  <c:v>5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6A-4E87-8262-9D14313589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$5B+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15"/>
                <c:pt idx="0">
                  <c:v>Fintech</c:v>
                </c:pt>
                <c:pt idx="1">
                  <c:v>Internet SW &amp; Services</c:v>
                </c:pt>
                <c:pt idx="2">
                  <c:v>E-commerce</c:v>
                </c:pt>
                <c:pt idx="3">
                  <c:v>AI &amp; ML</c:v>
                </c:pt>
                <c:pt idx="4">
                  <c:v>Health</c:v>
                </c:pt>
                <c:pt idx="5">
                  <c:v>Supply Chain</c:v>
                </c:pt>
                <c:pt idx="6">
                  <c:v>Consumer &amp; Retail</c:v>
                </c:pt>
                <c:pt idx="7">
                  <c:v>Data Mgmt &amp; Analytics</c:v>
                </c:pt>
                <c:pt idx="8">
                  <c:v>Edtech</c:v>
                </c:pt>
                <c:pt idx="9">
                  <c:v>Hardware</c:v>
                </c:pt>
                <c:pt idx="10">
                  <c:v>Auto &amp; Transportation</c:v>
                </c:pt>
                <c:pt idx="11">
                  <c:v>Travel</c:v>
                </c:pt>
                <c:pt idx="12">
                  <c:v>Cybersecurity</c:v>
                </c:pt>
                <c:pt idx="13">
                  <c:v>Mobile &amp; Telecom</c:v>
                </c:pt>
                <c:pt idx="14">
                  <c:v>Other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15"/>
                <c:pt idx="0">
                  <c:v>39</c:v>
                </c:pt>
                <c:pt idx="1">
                  <c:v>37</c:v>
                </c:pt>
                <c:pt idx="2">
                  <c:v>18</c:v>
                </c:pt>
                <c:pt idx="3">
                  <c:v>14</c:v>
                </c:pt>
                <c:pt idx="4">
                  <c:v>12</c:v>
                </c:pt>
                <c:pt idx="5">
                  <c:v>11</c:v>
                </c:pt>
                <c:pt idx="6">
                  <c:v>9</c:v>
                </c:pt>
                <c:pt idx="7">
                  <c:v>7</c:v>
                </c:pt>
                <c:pt idx="8">
                  <c:v>5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6A-4E87-8262-9D14313589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Unicorn Investments</c:v>
                </c:pt>
              </c:strCache>
            </c:strRef>
          </c:tx>
          <c:spPr>
            <a:solidFill>
              <a:srgbClr val="1A234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2F1-40C7-9FD0-9284126B939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2F1-40C7-9FD0-9284126B939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2F1-40C7-9FD0-9284126B9395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2F1-40C7-9FD0-9284126B9395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2F1-40C7-9FD0-9284126B9395}"/>
              </c:ext>
            </c:extLst>
          </c:dPt>
          <c:dPt>
            <c:idx val="5"/>
            <c:invertIfNegative val="0"/>
            <c:bubble3D val="0"/>
            <c:spPr>
              <a:solidFill>
                <a:srgbClr val="243B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2F1-40C7-9FD0-9284126B9395}"/>
              </c:ext>
            </c:extLst>
          </c:dPt>
          <c:dPt>
            <c:idx val="6"/>
            <c:invertIfNegative val="0"/>
            <c:bubble3D val="0"/>
            <c:spPr>
              <a:solidFill>
                <a:srgbClr val="243B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2F1-40C7-9FD0-9284126B9395}"/>
              </c:ext>
            </c:extLst>
          </c:dPt>
          <c:dPt>
            <c:idx val="7"/>
            <c:invertIfNegative val="0"/>
            <c:bubble3D val="0"/>
            <c:spPr>
              <a:solidFill>
                <a:srgbClr val="243B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2F1-40C7-9FD0-9284126B939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15"/>
                <c:pt idx="0">
                  <c:v>Sequoia Capital</c:v>
                </c:pt>
                <c:pt idx="1">
                  <c:v>Tiger Global Management</c:v>
                </c:pt>
                <c:pt idx="2">
                  <c:v>Accel</c:v>
                </c:pt>
                <c:pt idx="3">
                  <c:v>SoftBank</c:v>
                </c:pt>
                <c:pt idx="4">
                  <c:v>Andreessen Horowitz</c:v>
                </c:pt>
                <c:pt idx="5">
                  <c:v>Y Combinator</c:v>
                </c:pt>
                <c:pt idx="6">
                  <c:v>Insight Partners</c:v>
                </c:pt>
                <c:pt idx="7">
                  <c:v>Goldman Sachs</c:v>
                </c:pt>
                <c:pt idx="8">
                  <c:v>GV (Google Ventures)</c:v>
                </c:pt>
                <c:pt idx="9">
                  <c:v>Lightspeed Venture</c:v>
                </c:pt>
                <c:pt idx="10">
                  <c:v>Kleiner Perkins</c:v>
                </c:pt>
                <c:pt idx="11">
                  <c:v>DST Global</c:v>
                </c:pt>
                <c:pt idx="12">
                  <c:v>New Enterprise Associates</c:v>
                </c:pt>
                <c:pt idx="13">
                  <c:v>General Catalyst</c:v>
                </c:pt>
                <c:pt idx="14">
                  <c:v>Khosla Ventures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15"/>
                <c:pt idx="0">
                  <c:v>96</c:v>
                </c:pt>
                <c:pt idx="1">
                  <c:v>89</c:v>
                </c:pt>
                <c:pt idx="2">
                  <c:v>75</c:v>
                </c:pt>
                <c:pt idx="3">
                  <c:v>72</c:v>
                </c:pt>
                <c:pt idx="4">
                  <c:v>68</c:v>
                </c:pt>
                <c:pt idx="5">
                  <c:v>65</c:v>
                </c:pt>
                <c:pt idx="6">
                  <c:v>58</c:v>
                </c:pt>
                <c:pt idx="7">
                  <c:v>52</c:v>
                </c:pt>
                <c:pt idx="8">
                  <c:v>49</c:v>
                </c:pt>
                <c:pt idx="9">
                  <c:v>46</c:v>
                </c:pt>
                <c:pt idx="10">
                  <c:v>43</c:v>
                </c:pt>
                <c:pt idx="11">
                  <c:v>40</c:v>
                </c:pt>
                <c:pt idx="12">
                  <c:v>38</c:v>
                </c:pt>
                <c:pt idx="13">
                  <c:v>36</c:v>
                </c:pt>
                <c:pt idx="14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2F1-40C7-9FD0-9284126B93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096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822960"/>
            <a:ext cx="2926080" cy="292608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74320"/>
            <a:ext cx="1828800" cy="18288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EXPLORATORY DATA ANALYSIS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Unicorn Startup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8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</a:rPr>
              <a:t>1,074 Unicorn Companies  ·  Global Dataset  ·  10 Variables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F"/>
                </a:solidFill>
              </a:rPr>
              <a:t>Harshit  ·  Khush Chauhan  ·  Krishiv Sharma  ·  Kshitij Dalvi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315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Batch: ENTC A-3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0" y="4297680"/>
            <a:ext cx="91440" cy="9144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85632" y="4297680"/>
            <a:ext cx="91440" cy="9144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41664" y="4297680"/>
            <a:ext cx="91440" cy="9144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4553712"/>
            <a:ext cx="91440" cy="9144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85632" y="4553712"/>
            <a:ext cx="91440" cy="9144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741664" y="4553712"/>
            <a:ext cx="91440" cy="9144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4809744"/>
            <a:ext cx="91440" cy="9144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85632" y="4809744"/>
            <a:ext cx="91440" cy="9144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41664" y="4809744"/>
            <a:ext cx="91440" cy="9144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Unicorn?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32104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 unicorn startup is a privately held company valued at over $1 billion. This EDA analyzes 1,074 unicorn companies worldwide to uncover patterns in industry, geography, funding, and valuation.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TOOLS USED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121408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214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01368" y="2121408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01368" y="21214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91256" y="2121408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256" y="21214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NumPy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81144" y="2121408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21214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Matplotlib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71032" y="2121408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1032" y="21214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Seaborn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2121408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1214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Plotly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97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4748B"/>
                </a:solidFill>
              </a:rPr>
              <a:t>Dataset Columns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1152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0970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Company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4627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4444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Valuation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381023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7919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Date Joined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41577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1394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Industry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45051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4868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City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1152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0970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Country / Region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34627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34444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Continent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81023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37919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Year Founded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41577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41394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Funding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45051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44868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Select Investors</a:t>
            </a:r>
            <a:endParaRPr lang="en-US" sz="1200" dirty="0"/>
          </a:p>
        </p:txBody>
      </p:sp>
      <p:sp>
        <p:nvSpPr>
          <p:cNvPr id="42" name="Shape 17"/>
          <p:cNvSpPr/>
          <p:nvPr/>
        </p:nvSpPr>
        <p:spPr>
          <a:xfrm>
            <a:off x="411480" y="2596896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3" name="Text 18"/>
          <p:cNvSpPr/>
          <p:nvPr/>
        </p:nvSpPr>
        <p:spPr>
          <a:xfrm>
            <a:off x="411480" y="25968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Warnings</a:t>
            </a:r>
            <a:endParaRPr lang="en-US" sz="1100" dirty="0"/>
          </a:p>
        </p:txBody>
      </p:sp>
      <p:sp>
        <p:nvSpPr>
          <p:cNvPr id="44" name="Shape 17"/>
          <p:cNvSpPr/>
          <p:nvPr/>
        </p:nvSpPr>
        <p:spPr>
          <a:xfrm>
            <a:off x="1801368" y="2596896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5" name="Text 18"/>
          <p:cNvSpPr/>
          <p:nvPr/>
        </p:nvSpPr>
        <p:spPr>
          <a:xfrm>
            <a:off x="1801368" y="25968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Plotly Express</a:t>
            </a:r>
            <a:endParaRPr lang="en-US" sz="1100" dirty="0"/>
          </a:p>
        </p:txBody>
      </p:sp>
      <p:sp>
        <p:nvSpPr>
          <p:cNvPr id="46" name="Shape 17"/>
          <p:cNvSpPr/>
          <p:nvPr/>
        </p:nvSpPr>
        <p:spPr>
          <a:xfrm>
            <a:off x="3191256" y="2596896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7" name="Text 18"/>
          <p:cNvSpPr/>
          <p:nvPr/>
        </p:nvSpPr>
        <p:spPr>
          <a:xfrm>
            <a:off x="3191256" y="25968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48" name="Shape 17"/>
          <p:cNvSpPr/>
          <p:nvPr/>
        </p:nvSpPr>
        <p:spPr>
          <a:xfrm>
            <a:off x="4581144" y="2596896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9" name="Text 18"/>
          <p:cNvSpPr/>
          <p:nvPr/>
        </p:nvSpPr>
        <p:spPr>
          <a:xfrm>
            <a:off x="4581144" y="25968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SciPy</a:t>
            </a:r>
            <a:endParaRPr lang="en-US" sz="1100" dirty="0"/>
          </a:p>
        </p:txBody>
      </p:sp>
      <p:sp>
        <p:nvSpPr>
          <p:cNvPr id="50" name="Shape 17"/>
          <p:cNvSpPr/>
          <p:nvPr/>
        </p:nvSpPr>
        <p:spPr>
          <a:xfrm>
            <a:off x="5971032" y="2596896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51" name="Text 18"/>
          <p:cNvSpPr/>
          <p:nvPr/>
        </p:nvSpPr>
        <p:spPr>
          <a:xfrm>
            <a:off x="5971032" y="25968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NetworkX</a:t>
            </a:r>
            <a:endParaRPr lang="en-US" sz="1100" dirty="0"/>
          </a:p>
        </p:txBody>
      </p:sp>
      <p:sp>
        <p:nvSpPr>
          <p:cNvPr id="52" name="Shape 17"/>
          <p:cNvSpPr/>
          <p:nvPr/>
        </p:nvSpPr>
        <p:spPr>
          <a:xfrm>
            <a:off x="7360920" y="2596896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53" name="Text 18"/>
          <p:cNvSpPr/>
          <p:nvPr/>
        </p:nvSpPr>
        <p:spPr>
          <a:xfrm>
            <a:off x="7360920" y="25968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Plotly Graph Objects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FBF1"/>
                </a:solidFill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DATASET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Data Inspection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965960" cy="12344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984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Total Companies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234440"/>
            <a:ext cx="196596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2984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10,740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06040" y="19385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Total Data Points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1965960" cy="12344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2984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00600" y="19385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Columns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95160" y="1234440"/>
            <a:ext cx="196596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12984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~2013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95160" y="19385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Avg Year Founded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651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Data Types &amp; Quality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017520"/>
            <a:ext cx="83210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449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Object (String):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86000" y="3044952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Company, Valuation, Date Joined, Industry, City, Country/Region, Continent, Funding, Select Investors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611880"/>
            <a:ext cx="83210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3931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Integer (int64):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86000" y="3639312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Year Founded  —  only numeric column by default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4206240"/>
            <a:ext cx="832104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3367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Missing Values: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86000" y="4233672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City: 16 missing  ·  Select Investors: 1 missing  ·  All others complete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Year Founded Stats:  Min 1919  ·  Q1 2011  ·  Median 2014  ·  Q3 2016  ·  Max 2021  ·  Std Dev 5.70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FBF1"/>
                </a:solidFill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DATA CLEANING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Engineering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Cleaning Logic Applied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0078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664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40"/>
                </a:solidFill>
              </a:rPr>
              <a:t>Strip "$" symbol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19019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Remove currency prefix and whitespace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19456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40"/>
                </a:solidFill>
              </a:rPr>
              <a:t>Suffix 'B'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2395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× 1,000,000,000  →  Billions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68833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40"/>
                </a:solidFill>
              </a:rPr>
              <a:t>Suffix 'M'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" y="28895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× 1,000,000  →  Millions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18211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3145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40"/>
                </a:solidFill>
              </a:rPr>
              <a:t>Suffix 'K'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" y="33832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× 1,000  →  Thousands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67588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40"/>
                </a:solidFill>
              </a:rPr>
              <a:t>Invalid values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38770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Non-numeric / missing  →  NaN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New Columns Created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1664208"/>
            <a:ext cx="38404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1664208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1709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Valuation_Cleaned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47488" y="19659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Numeric valuation in USD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2377440"/>
            <a:ext cx="38404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237744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2423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Funding_Cleaned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47488" y="26791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Numeric funding in USD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090672"/>
            <a:ext cx="38404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92040" y="3090672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47488" y="3136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Joined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47488" y="33924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Extracted from Date Joined (datetime)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803904"/>
            <a:ext cx="38404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92040" y="3803904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47488" y="3849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Years to Unicorn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47488" y="41056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Year Joined − Year Founded</a:t>
            </a:r>
            <a:endParaRPr lang="en-US" sz="1000" dirty="0"/>
          </a:p>
        </p:txBody>
      </p:sp>
      <p:sp>
        <p:nvSpPr>
          <p:cNvPr id="44" name="Shape 21"/>
          <p:cNvSpPr/>
          <p:nvPr/>
        </p:nvSpPr>
        <p:spPr>
          <a:xfrm>
            <a:off x="411480" y="416966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22"/>
          <p:cNvSpPr/>
          <p:nvPr/>
        </p:nvSpPr>
        <p:spPr>
          <a:xfrm>
            <a:off x="411480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6" name="Text 23"/>
          <p:cNvSpPr/>
          <p:nvPr/>
        </p:nvSpPr>
        <p:spPr>
          <a:xfrm>
            <a:off x="804672" y="4133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40"/>
                </a:solidFill>
              </a:rPr>
              <a:t>Missing City values</a:t>
            </a:r>
            <a:endParaRPr lang="en-US" sz="1150" dirty="0"/>
          </a:p>
        </p:txBody>
      </p:sp>
      <p:sp>
        <p:nvSpPr>
          <p:cNvPr id="47" name="Text 24"/>
          <p:cNvSpPr/>
          <p:nvPr/>
        </p:nvSpPr>
        <p:spPr>
          <a:xfrm>
            <a:off x="804672" y="4356764"/>
            <a:ext cx="32004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Replaced using mode (most frequent city per country)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FBF1"/>
                </a:solidFill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BASIC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Data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965960" cy="11430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984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D5E1"/>
                </a:solidFill>
              </a:rPr>
              <a:t>Max Valuation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Bytedance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234440"/>
            <a:ext cx="196596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2984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06040" y="1828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D5E1"/>
                </a:solidFill>
              </a:rPr>
              <a:t>Max Funding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20848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JUUL Labs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0600" y="1234440"/>
            <a:ext cx="1965960" cy="1143000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2984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00600" y="1828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D5E1"/>
                </a:solidFill>
              </a:rPr>
              <a:t>Min Valuation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0848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56+ companies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95160" y="1234440"/>
            <a:ext cx="1965960" cy="11430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95160" y="12984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95160" y="1828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BD5E1"/>
                </a:solidFill>
              </a:rPr>
              <a:t>Min Funding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95160" y="20848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Otto Bock HealthCare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542032"/>
            <a:ext cx="41605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587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Mean Valuation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23160" y="2587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$3.46 Billion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28346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across all 1,074 unicorns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542032"/>
            <a:ext cx="3977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587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Mean Funding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2587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$557.3 Million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2834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average funding raised per company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3246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Outlier Detection (IQR Method)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3657600"/>
            <a:ext cx="265176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1148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11480" y="41605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340"/>
                </a:solidFill>
              </a:rPr>
              <a:t>Valuation Outliers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" y="43708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High-value unicorns ($10B+)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19272" y="3657600"/>
            <a:ext cx="265176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319272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3319272" y="41605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340"/>
                </a:solidFill>
              </a:rPr>
              <a:t>Funding Outliers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319272" y="43708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Unusually high funding raised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27064" y="3657600"/>
            <a:ext cx="265176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27064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227064" y="41605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340"/>
                </a:solidFill>
              </a:rPr>
              <a:t>Year Founded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27064" y="43708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Founded pre-2000 or post-2019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FBF1"/>
                </a:solidFill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INDUSTRY DISTRIBUTION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Distribution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411480" y="4498848"/>
            <a:ext cx="8321040" cy="566928"/>
          </a:xfrm>
          <a:prstGeom prst="rect">
            <a:avLst/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5445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</a:rPr>
              <a:t>💡  16 unique industry categories  ·  Fintech &amp; Internet SW together account for ~40% of all unicorns  ·  AI sector at ~7.8% and growing rapidly</a:t>
            </a:r>
            <a:endParaRPr lang="en-US" sz="1100" dirty="0"/>
          </a:p>
        </p:txBody>
      </p:sp>
      <p:sp>
        <p:nvSpPr>
          <p:cNvPr id="38" name="TextBox 37"/>
          <p:cNvSpPr txBox="1"/>
          <p:nvPr/>
        </p:nvSpPr>
        <p:spPr>
          <a:xfrm>
            <a:off x="411480" y="1090000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Fintech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00000" y="1100000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700000" y="1100000"/>
            <a:ext cx="4600000" cy="152773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40000" y="1090000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20.9%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0000" y="1090000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(224)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1314666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Internet software &amp; services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00000" y="1324666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700000" y="1324666"/>
            <a:ext cx="4209821" cy="152773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40000" y="1314666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19.1%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0000" y="1314666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(205)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1539332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E-commerce &amp; direct-to-consumer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00000" y="1549332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700000" y="1549332"/>
            <a:ext cx="2279464" cy="152773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40000" y="1539332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10.3%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0000" y="1539332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(111)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1763998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Artificial intelligence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00000" y="1773998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700000" y="1773998"/>
            <a:ext cx="1725000" cy="152773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40000" y="1763998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7.8%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00000" y="1763998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(84)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1988664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Health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00000" y="1998664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700000" y="1998664"/>
            <a:ext cx="1519642" cy="152773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40000" y="1988664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6.9%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00000" y="1988664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(74)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" y="2213330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Supply chain, logistics &amp; delivery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00000" y="2223330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700000" y="2223330"/>
            <a:ext cx="1170535" cy="15277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40000" y="2213330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5.3%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00000" y="2213330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(57)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2437996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Consumer &amp; retail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00000" y="2447996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700000" y="2447996"/>
            <a:ext cx="1026785" cy="152773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340000" y="2437996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4.7%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00000" y="2437996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(50)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2662662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Data mgmt &amp; analytics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00000" y="2672662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700000" y="2672662"/>
            <a:ext cx="862500" cy="152773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40000" y="2662662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3.9%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00000" y="2662662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(42)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2887328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Edtech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00000" y="2897328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700000" y="2897328"/>
            <a:ext cx="677678" cy="152773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340000" y="2887328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3.1%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00000" y="2887328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(33)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" y="3111994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Hardware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00000" y="3121994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2700000" y="3121994"/>
            <a:ext cx="513392" cy="152773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340000" y="3111994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2.3%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00000" y="3111994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(25)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1480" y="3336660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Auto &amp; transportation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00000" y="3346660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700000" y="3346660"/>
            <a:ext cx="431250" cy="152773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340000" y="3336660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2.0%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00000" y="3336660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(21)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1480" y="3561326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Travel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00000" y="3571326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700000" y="3571326"/>
            <a:ext cx="390178" cy="152773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340000" y="3561326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1.8%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00000" y="3561326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(19)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11480" y="3785992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Cybersecurity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00000" y="3795992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700000" y="3795992"/>
            <a:ext cx="369642" cy="152773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340000" y="3785992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1.7%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00000" y="3785992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(18)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4010658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Mobile &amp; telecommunications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00000" y="4020658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2700000" y="4020658"/>
            <a:ext cx="349107" cy="152773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340000" y="4010658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1.6%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00000" y="4010658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(17)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1480" y="4235324"/>
            <a:ext cx="224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E293B"/>
                </a:solidFill>
              </a:rPr>
              <a:t>Other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00000" y="4245324"/>
            <a:ext cx="4600000" cy="1527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2700000" y="4245324"/>
            <a:ext cx="1827678" cy="152773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340000" y="4235324"/>
            <a:ext cx="52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475569"/>
                </a:solidFill>
              </a:rPr>
              <a:t>8.3%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00000" y="4235324"/>
            <a:ext cx="750000" cy="172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94A3B8"/>
                </a:solidFill>
              </a:rPr>
              <a:t>(89)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FBF1"/>
                </a:solidFill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GEOGRAPHIC DISTRIBUTION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 — Countries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782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5F46"/>
                </a:solidFill>
              </a:rPr>
              <a:t>Top 10 countries account for ~85% of all unicorn companies globally</a:t>
            </a:r>
            <a:endParaRPr lang="en-US" sz="1050" dirty="0"/>
          </a:p>
        </p:txBody>
      </p:sp>
      <p:sp>
        <p:nvSpPr>
          <p:cNvPr id="50" name="Rectangle 49"/>
          <p:cNvSpPr/>
          <p:nvPr/>
        </p:nvSpPr>
        <p:spPr>
          <a:xfrm>
            <a:off x="411480" y="1150000"/>
            <a:ext cx="229450" cy="2294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1145000"/>
            <a:ext cx="229450" cy="239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000" y="1142000"/>
            <a:ext cx="21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293B"/>
                </a:solidFill>
              </a:rPr>
              <a:t>🇺🇸 United States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00000" y="1150000"/>
            <a:ext cx="4600000" cy="229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900000" y="1150000"/>
            <a:ext cx="4600000" cy="2294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560000" y="1142000"/>
            <a:ext cx="6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</a:rPr>
              <a:t>52.33%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1503000"/>
            <a:ext cx="229450" cy="2294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1480" y="1498000"/>
            <a:ext cx="229450" cy="239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000" y="1495000"/>
            <a:ext cx="21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293B"/>
                </a:solidFill>
              </a:rPr>
              <a:t>🇨🇳 China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00000" y="1503000"/>
            <a:ext cx="4600000" cy="229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900000" y="1503000"/>
            <a:ext cx="1416014" cy="229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60000" y="1495000"/>
            <a:ext cx="6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</a:rPr>
              <a:t>16.11%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1856000"/>
            <a:ext cx="229450" cy="22945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11480" y="1851000"/>
            <a:ext cx="229450" cy="239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0000" y="1848000"/>
            <a:ext cx="21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E293B"/>
                </a:solidFill>
              </a:rPr>
              <a:t>🇮🇳 India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00000" y="1856000"/>
            <a:ext cx="4600000" cy="229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900000" y="1856000"/>
            <a:ext cx="532028" cy="22945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560000" y="1848000"/>
            <a:ext cx="6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</a:rPr>
              <a:t>6.05%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2209000"/>
            <a:ext cx="229450" cy="22945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11480" y="2204000"/>
            <a:ext cx="229450" cy="239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000" y="2201000"/>
            <a:ext cx="21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🇬🇧 United Kingdom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00000" y="2209000"/>
            <a:ext cx="4600000" cy="229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900000" y="2209000"/>
            <a:ext cx="351957" cy="22945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60000" y="2201000"/>
            <a:ext cx="6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</a:rPr>
              <a:t>4.00%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2562000"/>
            <a:ext cx="229450" cy="2294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2557000"/>
            <a:ext cx="229450" cy="239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0000" y="2554000"/>
            <a:ext cx="21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🇩🇪 Germany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00000" y="2562000"/>
            <a:ext cx="4600000" cy="229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2900000" y="2562000"/>
            <a:ext cx="212811" cy="22945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560000" y="2554000"/>
            <a:ext cx="6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</a:rPr>
              <a:t>2.42%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2915000"/>
            <a:ext cx="229450" cy="2294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11480" y="2910000"/>
            <a:ext cx="229450" cy="239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0000" y="2907000"/>
            <a:ext cx="21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🇫🇷 France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900000" y="2915000"/>
            <a:ext cx="4600000" cy="229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2900000" y="2915000"/>
            <a:ext cx="204626" cy="22945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560000" y="2907000"/>
            <a:ext cx="6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</a:rPr>
              <a:t>2.33%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3268000"/>
            <a:ext cx="229450" cy="2294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11480" y="3263000"/>
            <a:ext cx="229450" cy="239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0000" y="3260000"/>
            <a:ext cx="21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🇮🇱 Israel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900000" y="3268000"/>
            <a:ext cx="4600000" cy="229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900000" y="3268000"/>
            <a:ext cx="163701" cy="22945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560000" y="3260000"/>
            <a:ext cx="6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</a:rPr>
              <a:t>1.86%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3621000"/>
            <a:ext cx="229450" cy="2294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11480" y="3616000"/>
            <a:ext cx="229450" cy="239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0000" y="3613000"/>
            <a:ext cx="21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🇧🇷 Brazil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900000" y="3621000"/>
            <a:ext cx="4600000" cy="229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2900000" y="3621000"/>
            <a:ext cx="122775" cy="22945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560000" y="3613000"/>
            <a:ext cx="6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</a:rPr>
              <a:t>1.40%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1480" y="3974000"/>
            <a:ext cx="229450" cy="2294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1480" y="3969000"/>
            <a:ext cx="229450" cy="239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0000" y="3966000"/>
            <a:ext cx="21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🇰🇷 South Korea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900000" y="3974000"/>
            <a:ext cx="4600000" cy="229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900000" y="3974000"/>
            <a:ext cx="114590" cy="22945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560000" y="3966000"/>
            <a:ext cx="6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</a:rPr>
              <a:t>1.30%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1480" y="4327000"/>
            <a:ext cx="229450" cy="22945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11480" y="4322000"/>
            <a:ext cx="229450" cy="239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0000" y="4319000"/>
            <a:ext cx="21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1E293B"/>
                </a:solidFill>
              </a:rPr>
              <a:t>🇨🇦 Canada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900000" y="4327000"/>
            <a:ext cx="4600000" cy="229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2900000" y="4327000"/>
            <a:ext cx="106405" cy="22945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560000" y="4319000"/>
            <a:ext cx="600000" cy="245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</a:rPr>
              <a:t>1.21%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FBF1"/>
                </a:solidFill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CONTINENT DISTRIBUTION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Continent-wise Distribution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80160"/>
            <a:ext cx="2697480" cy="16459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54.84%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</a:rPr>
              <a:t>North America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</a:rPr>
              <a:t>Dominant region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9272" y="12801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9272" y="1280160"/>
            <a:ext cx="26974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5087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28.86%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19272" y="21031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</a:rPr>
              <a:t>Asia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9272" y="23957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</a:rPr>
              <a:t>Rapid growth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7064" y="12801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27064" y="1280160"/>
            <a:ext cx="2697480" cy="164592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15087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13.31%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27064" y="21031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</a:rPr>
              <a:t>Europe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27064" y="23957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</a:rPr>
              <a:t>Mature ecosystem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294436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944368"/>
            <a:ext cx="26974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7296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11480" y="37673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</a:rPr>
              <a:t>South America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405993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</a:rPr>
              <a:t>Emerging market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9272" y="294436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9272" y="2944368"/>
            <a:ext cx="2697480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317296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3319272" y="37673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</a:rPr>
              <a:t>Oceania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19272" y="405993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</a:rPr>
              <a:t>Niche presence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27064" y="294436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27064" y="2944368"/>
            <a:ext cx="2697480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317296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0.28%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227064" y="37673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</a:rPr>
              <a:t>Africa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27064" y="405993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</a:rPr>
              <a:t>Early stage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FBF1"/>
                </a:solidFill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VALUATION DISTRIBUTION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Distribution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18872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371600"/>
            <a:ext cx="251460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0" y="1371600"/>
            <a:ext cx="64008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43.85%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355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Sit at exactly $1B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468880"/>
            <a:ext cx="251460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46888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23.09%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3550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Valued at $2B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3566160"/>
            <a:ext cx="251460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56616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35508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Above $20B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Distribution is heavily right-skewed — ~77% of unicorns sit in the $1B–$2B range.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FBF1"/>
                </a:solidFill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GROWTH OVER TIME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Unicorn Growth Over Time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188720"/>
          <a:ext cx="5943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583680" y="1234440"/>
            <a:ext cx="21488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93408" y="1289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</a:rPr>
              <a:t>📉 2007–2012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93408" y="15636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Slow rise, early unicorns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83680" y="2039112"/>
            <a:ext cx="21488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93408" y="2093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</a:rPr>
              <a:t>📈 2013–2018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93408" y="23682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Steady growth phase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83680" y="2843784"/>
            <a:ext cx="2148840" cy="6858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93408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🚀 2021 Peak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93408" y="3172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414 new unicorns — historic high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83680" y="3648456"/>
            <a:ext cx="21488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693408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</a:rPr>
              <a:t>⏱ Median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93408" y="3977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~7 years to unicorn status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4782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5F46"/>
                </a:solidFill>
              </a:rPr>
              <a:t>2021 surge driven by post-COVID tech adoption and historically low interest rates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FBF1"/>
                </a:solidFill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BIVARIATE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vs Valuation Tier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188720"/>
          <a:ext cx="83210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8280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5F46"/>
                </a:solidFill>
              </a:rPr>
              <a:t>Fintech &amp; Internet SW lead across all valuation tiers. AI shows high concentration at $1B but growing mega-unicorn presence.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FBF1"/>
                </a:solidFill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TOP INVESTORS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Investors in Unicorn Companies</a:t>
            </a:r>
            <a:endParaRPr lang="en-US" sz="2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188720"/>
          <a:ext cx="8321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526280"/>
            <a:ext cx="832104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</a:rPr>
              <a:t>💡  Most top investors are US-based  ·  Many co-invest across rounds  ·  Sequoia, Tiger Global &amp; Accel collectively back 250+ unicorns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FBF1"/>
                </a:solidFill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OUTLIER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832104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52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Method: IQR (Interquartile Range)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508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Lower Bound = Q1 − 1.5 × IQR   ·   Upper Bound = Q3 + 1.5 × IQR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29968"/>
            <a:ext cx="2651760" cy="11430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</a:rPr>
              <a:t>Valuation Outliers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9077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High-value unicorns ($10B+)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19272" y="2029968"/>
            <a:ext cx="265176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9272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19272" y="2651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</a:rPr>
              <a:t>Funding Outliers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9272" y="29077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Unusually high funding raised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27064" y="2029968"/>
            <a:ext cx="2651760" cy="1143000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27064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27064" y="2651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</a:rPr>
              <a:t>Year Founded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27064" y="29077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Founded before 2000 or post-2019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337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</a:rPr>
              <a:t>Notable Outliers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657600"/>
          <a:ext cx="8321040" cy="12801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Bytedance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Valuation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$180B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Highest valuation outlier by far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JUUL Labs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Funding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$14B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Highest funding outlier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Otto Bock HealthCare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Year Founded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1919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Oldest company in dataset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FBF1"/>
                </a:solidFill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DATA FILTERING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Spotlight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832104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527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</a:rPr>
              <a:t>Fintech is the largest unicorn industry with 224 companies (20.86%). Dataset filtered to showcase top Fintech unicorns by valuation.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10512"/>
          <a:ext cx="8321040" cy="3154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Date Joined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Stripe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$95B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United States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Jan 23, 2014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Klarna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$46B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Sweden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Dec 12, 2011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Checkout.com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$40B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United Kingdom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May 2, 2019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Revolut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$33B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United Kingdom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Apr 26, 2018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FTX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$32B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Bahamas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Jul 20, 2021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Chime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$25B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United States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Mar 5, 2019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Rapyd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$15B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United Kingdom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Dec 3, 2019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Blockchain.com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$14B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United States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Feb 17, 2021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FBF1"/>
                </a:solidFill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UNIVARIATE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 Summary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4114800" cy="34747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71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📊  Valuation Distribution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1208" y="165506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· 43.85% valued at exactly $1B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202082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· 23.09% at $2B  ·  10.71% at $3B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238658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· Only ~2.5% valued above $20B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34440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271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🗓  Year Founded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64608" y="165506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· Most founded between 2011–2016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202082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· Median founding year: 2014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238658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· Oldest outlier: 1919 (Otto Bock)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1546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154680"/>
            <a:ext cx="4114800" cy="347472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191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🏭  Industry Frequency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1208" y="357530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· Fintech: 224  ·  Internet SW: 205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" y="394106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· E-commerce: 111  ·  AI: 84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" y="430682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· Health: 74  ·  Supply Chain: 57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1546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154680"/>
            <a:ext cx="4114800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191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🏙  City &amp; Continent Frequency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64608" y="357530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· San Francisco: 152 unicorns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394106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· New York: 103  ·  Beijing: high in Asia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430682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· N. America 54.84%  ·  Asia 28.86%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2743200" cy="27432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81328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1508760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Fintech &amp; Internet SW dominate — ~40% of all unicorns globally combined.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82296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39696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2167128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USA leads with 52%+ of unicorns, far ahead of China (16%) and India (6%).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34056"/>
            <a:ext cx="82296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9806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2825496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Valuations are right-skewed — ~77% sit at $1B–$2B; Bytedance ($180B) is a mega outlier.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82296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56432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348386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2021 was historic — 414 new unicorns driven by post-COVID digital surge and low rates.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82296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14800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5568" y="4142232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Sequoia, Tiger Global &amp; Accel collectively back 250+ unicorn companies.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</a:rPr>
              <a:t>The unicorn landscape reflects a rapidly maturing global startup ecosystem — technology and financial services at its core, United States as its hub.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1241</Words>
  <Application>Microsoft Office PowerPoint</Application>
  <PresentationFormat>On-screen Show (16:9)</PresentationFormat>
  <Paragraphs>368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Krishiv Sharma</cp:lastModifiedBy>
  <cp:revision>4</cp:revision>
  <dcterms:created xsi:type="dcterms:W3CDTF">2026-04-19T19:32:41Z</dcterms:created>
  <dcterms:modified xsi:type="dcterms:W3CDTF">2026-04-20T19:31:57Z</dcterms:modified>
</cp:coreProperties>
</file>